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482270098649a1" /><Relationship Type="http://schemas.openxmlformats.org/officeDocument/2006/relationships/extended-properties" Target="/docProps/app.xml" Id="R40e4a693d03348c9" /><Relationship Type="http://schemas.openxmlformats.org/officeDocument/2006/relationships/officeDocument" Target="/ppt/presentation.xml" Id="R6bafebc3a51a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d3390f79347a7"/>
  </p:sldMasterIdLst>
  <p:notesMasterIdLst>
    <p:notesMasterId xmlns:r="http://schemas.openxmlformats.org/officeDocument/2006/relationships" r:id="R5f0ebdb32f41412c"/>
  </p:notesMasterIdLst>
  <p:sldIdLst>
    <p:sldId xmlns:r="http://schemas.openxmlformats.org/officeDocument/2006/relationships" id="256" r:id="R1d6c57b8d2a64480"/>
    <p:sldId xmlns:r="http://schemas.openxmlformats.org/officeDocument/2006/relationships" id="257" r:id="R8cdc98a74e524498"/>
    <p:sldId xmlns:r="http://schemas.openxmlformats.org/officeDocument/2006/relationships" id="258" r:id="Rbdbb36f6361148cc"/>
    <p:sldId xmlns:r="http://schemas.openxmlformats.org/officeDocument/2006/relationships" id="259" r:id="Rf418f37a145247a5"/>
    <p:sldId xmlns:r="http://schemas.openxmlformats.org/officeDocument/2006/relationships" id="260" r:id="R8871b97b1ad54cb2"/>
    <p:sldId xmlns:r="http://schemas.openxmlformats.org/officeDocument/2006/relationships" id="261" r:id="R0ef6e55e9d6c4252"/>
    <p:sldId xmlns:r="http://schemas.openxmlformats.org/officeDocument/2006/relationships" id="262" r:id="R626e2fced5e04afe"/>
    <p:sldId xmlns:r="http://schemas.openxmlformats.org/officeDocument/2006/relationships" id="263" r:id="Rffa49124808e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e375fb6a642b3" /><Relationship Type="http://schemas.openxmlformats.org/officeDocument/2006/relationships/slideMaster" Target="/ppt/slideMasters/slideMaster1.xml" Id="R134d3390f79347a7" /><Relationship Type="http://schemas.openxmlformats.org/officeDocument/2006/relationships/notesMaster" Target="/ppt/notesMasters/notesMaster1.xml" Id="R5f0ebdb32f41412c" /><Relationship Type="http://schemas.openxmlformats.org/officeDocument/2006/relationships/presProps" Target="/ppt/presProps.xml" Id="R068f10e4db314193" /><Relationship Type="http://schemas.openxmlformats.org/officeDocument/2006/relationships/tableStyles" Target="/ppt/tableStyles.xml" Id="R6ce5c75f1c1e4a7c" /><Relationship Type="http://schemas.openxmlformats.org/officeDocument/2006/relationships/slide" Target="/ppt/slides/slide1.xml" Id="R1d6c57b8d2a64480" /><Relationship Type="http://schemas.openxmlformats.org/officeDocument/2006/relationships/slide" Target="/ppt/slides/slide2.xml" Id="R8cdc98a74e524498" /><Relationship Type="http://schemas.openxmlformats.org/officeDocument/2006/relationships/slide" Target="/ppt/slides/slide3.xml" Id="Rbdbb36f6361148cc" /><Relationship Type="http://schemas.openxmlformats.org/officeDocument/2006/relationships/slide" Target="/ppt/slides/slide4.xml" Id="Rf418f37a145247a5" /><Relationship Type="http://schemas.openxmlformats.org/officeDocument/2006/relationships/slide" Target="/ppt/slides/slide5.xml" Id="R8871b97b1ad54cb2" /><Relationship Type="http://schemas.openxmlformats.org/officeDocument/2006/relationships/slide" Target="/ppt/slides/slide6.xml" Id="R0ef6e55e9d6c4252" /><Relationship Type="http://schemas.openxmlformats.org/officeDocument/2006/relationships/slide" Target="/ppt/slides/slide7.xml" Id="R626e2fced5e04afe" /><Relationship Type="http://schemas.openxmlformats.org/officeDocument/2006/relationships/slide" Target="/ppt/slides/slide8.xml" Id="Rffa49124808e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e7f027026d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9666f2c2c4098" /><Relationship Type="http://schemas.openxmlformats.org/officeDocument/2006/relationships/notesMaster" Target="/ppt/notesMasters/notesMaster1.xml" Id="Rf5f9ad19a829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cacd53c3b4223" /><Relationship Type="http://schemas.openxmlformats.org/officeDocument/2006/relationships/notesMaster" Target="/ppt/notesMasters/notesMaster1.xml" Id="R21eecd078616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47fb2f12d4af3" /><Relationship Type="http://schemas.openxmlformats.org/officeDocument/2006/relationships/notesMaster" Target="/ppt/notesMasters/notesMaster1.xml" Id="R5022b2df6da246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09a050215b4465" /><Relationship Type="http://schemas.openxmlformats.org/officeDocument/2006/relationships/notesMaster" Target="/ppt/notesMasters/notesMaster1.xml" Id="R222e2c77cd96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53d942cd54cfa" /><Relationship Type="http://schemas.openxmlformats.org/officeDocument/2006/relationships/notesMaster" Target="/ppt/notesMasters/notesMaster1.xml" Id="R1edcfd01b93e4f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29fe3333a47ed" /><Relationship Type="http://schemas.openxmlformats.org/officeDocument/2006/relationships/notesMaster" Target="/ppt/notesMasters/notesMaster1.xml" Id="R4c0e64a8915a4e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eff5aa8b824d0d" /><Relationship Type="http://schemas.openxmlformats.org/officeDocument/2006/relationships/notesMaster" Target="/ppt/notesMasters/notesMaster1.xml" Id="R608f6426cd2342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a89ee2275b4a2c" /><Relationship Type="http://schemas.openxmlformats.org/officeDocument/2006/relationships/notesMaster" Target="/ppt/notesMasters/notesMaster1.xml" Id="Reacf3ae1859f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project title retained. The application now has verified live AWS historical storage and current importer-health monitoring. See results/real_banking/deployment.json.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https://monzo.com/service-information ; https://www.starlingbank.com/current-account/service-information/api-performance/ ; https://github.com/alibaba/clusterdata/tree/master/cluster-trace-microservices-v2021 ; https://huggingface.co/datasets/phamquiluan/RCAEval ; https://github.com/microsoft/cloud-monitoring-dataset . Local experiments and legacy AWS demos remain archived.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official bank pages above, results/real_banking/monzo-current.json and starling-current.json. Monzo missing CBPII cells and three malformed values remain null. Starling initial rendered table disagrees with its displayed heading; import uses separately identified official embedded quarterly reports and validates exact day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Methods: analysis/banking_api_anomalies.py. Minimum score 3.5, calibration 99th percentile. Null measurements are excluded. Findings have no verified incident labels. Persistence requires adjacent calendar days. No future values alter the reference or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results/real_banking/evaluation.json. Monzo Open Banking Payment Initiation and Starling Payment Initiation (Open Banking). Periods/categories differ, so this chart compares forecasting rules within each series, not bank quality. Flags are unlabelled model deviations. Persistence uses only prior measured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results/redesign_20261022/graph/report.json. 100 epochs, seed 42, width 16. Training-only topology selection through 175000ms. Validation selects checkpoints, identical holdout targets. Current input reconstruction is not forecasting or verified root-cause accuracy. Epoch training and validation losses are saved and shown in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results/research_v3/run_20261016_final/microsoft.json and rcaeval.json; results/research_v4/re2_graph_20261016_02/report.json. RE1 grouped split 90/30/30. All 30 heldout RE1 cases showed pre-injection alerts, so zero conditional post-injection delay cannot establish onset detection. Five RE2 cases are illustrative and do not establish a graph advantage.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deployment verified on 22 October 2026. Four uploaded S3 objects match downloaded SHA-256 checksums. Public access block enabled, default AES256 encryption enabled. CloudWatch ImportSuccess sum 1 and ImportFailure sum 0 read back. Source: results/real_banking/deployment.json. No historical bank values receive current metric timestamps.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c6617578f48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665a11ff547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cd0e8a6e14b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4dab96ba042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afc8f9f7743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54f82ba4f4b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133FC-12F9-4BB7-BC52-B795AB117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AD934E-D19C-41BA-A532-9C9EACD899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81F1AC-0C47-4031-A884-D8C359E70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AE390A-E63B-44ED-ACE9-FA4B28CA8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5AF087-75BB-4E5C-B617-F009E9F1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776BC4-B96A-46D7-B471-49BFC31B2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B651FB-CB17-4D76-890C-E491C6E035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D5058D-9974-44AF-8D80-94F9C8C3EF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0A8B53-EFF3-4948-8FB6-666D248B6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AEBEA8-80D9-4D86-B223-C16494383C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82af43f98486a" /><Relationship Type="http://schemas.openxmlformats.org/officeDocument/2006/relationships/slideLayout" Target="/ppt/slideLayouts/slideLayout1.xml" Id="R41353b5d66014d9c" /><Relationship Type="http://schemas.openxmlformats.org/officeDocument/2006/relationships/slideLayout" Target="/ppt/slideLayouts/slideLayout2.xml" Id="R9e14777e3c274366" /><Relationship Type="http://schemas.openxmlformats.org/officeDocument/2006/relationships/slideLayout" Target="/ppt/slideLayouts/slideLayout3.xml" Id="R898adf303ae742b4" /><Relationship Type="http://schemas.openxmlformats.org/officeDocument/2006/relationships/slideLayout" Target="/ppt/slideLayouts/slideLayout4.xml" Id="R3854b0bc0f5f4b9a" /><Relationship Type="http://schemas.openxmlformats.org/officeDocument/2006/relationships/slideLayout" Target="/ppt/slideLayouts/slideLayout5.xml" Id="R8d566116804b4ba4" /><Relationship Type="http://schemas.openxmlformats.org/officeDocument/2006/relationships/slideLayout" Target="/ppt/slideLayouts/slideLayout6.xml" Id="R2f00f10e9692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353b5d66014d9c"/>
    <p:sldLayoutId xmlns:r="http://schemas.openxmlformats.org/officeDocument/2006/relationships" id="2147483650" r:id="R9e14777e3c274366"/>
    <p:sldLayoutId xmlns:r="http://schemas.openxmlformats.org/officeDocument/2006/relationships" id="2147483651" r:id="R898adf303ae742b4"/>
    <p:sldLayoutId xmlns:r="http://schemas.openxmlformats.org/officeDocument/2006/relationships" id="2147483652" r:id="R3854b0bc0f5f4b9a"/>
    <p:sldLayoutId xmlns:r="http://schemas.openxmlformats.org/officeDocument/2006/relationships" id="2147483653" r:id="R8d566116804b4ba4"/>
    <p:sldLayoutId xmlns:r="http://schemas.openxmlformats.org/officeDocument/2006/relationships" id="2147483654" r:id="R2f00f10e9692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5dd30eff146c3" /><Relationship Type="http://schemas.openxmlformats.org/officeDocument/2006/relationships/notesSlide" Target="/ppt/notesSlides/notesSlide1.xml" Id="Re5da5ee377344b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5eecd400442e1" /><Relationship Type="http://schemas.openxmlformats.org/officeDocument/2006/relationships/notesSlide" Target="/ppt/notesSlides/notesSlide2.xml" Id="R38d043bad395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c2a72114e43f6" /><Relationship Type="http://schemas.openxmlformats.org/officeDocument/2006/relationships/notesSlide" Target="/ppt/notesSlides/notesSlide3.xml" Id="R081a87c935ac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9226e7c734f91" /><Relationship Type="http://schemas.openxmlformats.org/officeDocument/2006/relationships/notesSlide" Target="/ppt/notesSlides/notesSlide4.xml" Id="R3765525933d041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5006d4be7462f" /><Relationship Type="http://schemas.openxmlformats.org/officeDocument/2006/relationships/chart" Target="/ppt/slides/charts/chart1.xml" Id="R733b38fffb684920" /><Relationship Type="http://schemas.openxmlformats.org/officeDocument/2006/relationships/notesSlide" Target="/ppt/notesSlides/notesSlide5.xml" Id="R7687aebec788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0591182ca5463e" /><Relationship Type="http://schemas.openxmlformats.org/officeDocument/2006/relationships/chart" Target="/ppt/slides/charts/chart2.xml" Id="Raf206a9d07f14fdd" /><Relationship Type="http://schemas.openxmlformats.org/officeDocument/2006/relationships/notesSlide" Target="/ppt/notesSlides/notesSlide6.xml" Id="Rc37a0fb9a33346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af06a68c8452e" /><Relationship Type="http://schemas.openxmlformats.org/officeDocument/2006/relationships/notesSlide" Target="/ppt/notesSlides/notesSlide7.xml" Id="R26c7f61313b048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3698861104c4e" /><Relationship Type="http://schemas.openxmlformats.org/officeDocument/2006/relationships/notesSlide" Target="/ppt/notesSlides/notesSlide8.xml" Id="Rccba207c7d6541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Training median MAE ms</c:v>
          </c:tx>
          <c:spPr>
            <a:solidFill xmlns:a="http://schemas.openxmlformats.org/drawingml/2006/main">
              <a:srgbClr val="60758A"/>
            </a:solidFill>
          </c:spPr>
          <c:invertIfNegative val="0"/>
          <c:cat>
            <c:strLit>
              <c:ptCount val="2"/>
              <c:pt idx="0">
                <c:v>Monzo</c:v>
              </c:pt>
              <c:pt idx="1">
                <c:v>Starling</c:v>
              </c:pt>
            </c:strLit>
          </c:cat>
          <c:val>
            <c:numLit>
              <c:formatCode>General</c:formatCode>
              <c:ptCount val="2"/>
              <c:pt idx="0">
                <c:v>10.804828973843058</c:v>
              </c:pt>
              <c:pt idx="1">
                <c:v>2.358695652173913</c:v>
              </c:pt>
            </c:numLit>
          </c:val>
        </c:ser>
        <c:ser>
          <c:idx val="1"/>
          <c:order val="1"/>
          <c:tx>
            <c:v>Persistence MAE ms</c:v>
          </c:tx>
          <c:spPr>
            <a:solidFill xmlns:a="http://schemas.openxmlformats.org/drawingml/2006/main">
              <a:srgbClr val="16756D"/>
            </a:solidFill>
          </c:spPr>
          <c:invertIfNegative val="0"/>
          <c:cat>
            <c:strLit>
              <c:ptCount val="2"/>
              <c:pt idx="0">
                <c:v>Monzo</c:v>
              </c:pt>
              <c:pt idx="1">
                <c:v>Starling</c:v>
              </c:pt>
            </c:strLit>
          </c:cat>
          <c:val>
            <c:numLit>
              <c:formatCode>General</c:formatCode>
              <c:ptCount val="2"/>
              <c:pt idx="0">
                <c:v>5.565392354124748</c:v>
              </c:pt>
              <c:pt idx="1">
                <c:v>0.9347826086956522</c:v>
              </c:pt>
            </c:numLit>
          </c:val>
        </c:ser>
        <c:dLbls>
          <c:numFmt formatCode="0.00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Held-out reconstruction MSE</c:v>
          </c:tx>
          <c:spPr>
            <a:solidFill xmlns:a="http://schemas.openxmlformats.org/drawingml/2006/main">
              <a:srgbClr val="16756D"/>
            </a:solidFill>
          </c:spPr>
          <c:invertIfNegative val="0"/>
          <c:cat>
            <c:strLit>
              <c:ptCount val="3"/>
              <c:pt idx="0">
                <c:v>Recorded topology</c:v>
              </c:pt>
              <c:pt idx="1">
                <c:v>Identity adjacency</c:v>
              </c:pt>
              <c:pt idx="2">
                <c:v>Training mean</c:v>
              </c:pt>
            </c:strLit>
          </c:cat>
          <c:val>
            <c:numLit>
              <c:formatCode>General</c:formatCode>
              <c:ptCount val="3"/>
              <c:pt idx="0">
                <c:v>0.5172328352928162</c:v>
              </c:pt>
              <c:pt idx="1">
                <c:v>0.000946889107581228</c:v>
              </c:pt>
              <c:pt idx="2">
                <c:v>1.0508952140808105</c:v>
              </c:pt>
            </c:numLit>
          </c:val>
        </c:ser>
        <c:dLbls>
          <c:numFmt formatCode="0.0000" sourceLinked="0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84E17-2178-4D11-A3D9-C7AD8C4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B4D"/>
                </a:solidFill>
              </a:defRPr>
            </a:defPPr>
            <a:lvl1pPr>
              <a:defRPr sz="3450" b="1">
                <a:solidFill>
                  <a:srgbClr val="172B4D"/>
                </a:solidFill>
              </a:defRPr>
            </a:lvl1pPr>
            <a:lvl2pPr>
              <a:defRPr sz="3450" b="1">
                <a:solidFill>
                  <a:srgbClr val="172B4D"/>
                </a:solidFill>
              </a:defRPr>
            </a:lvl2pPr>
            <a:lvl3pPr>
              <a:defRPr sz="3450" b="1">
                <a:solidFill>
                  <a:srgbClr val="172B4D"/>
                </a:solidFill>
              </a:defRPr>
            </a:lvl3pPr>
            <a:lvl4pPr>
              <a:defRPr sz="3450" b="1">
                <a:solidFill>
                  <a:srgbClr val="172B4D"/>
                </a:solidFill>
              </a:defRPr>
            </a:lvl4pPr>
            <a:lvl5pPr>
              <a:defRPr sz="3450" b="1">
                <a:solidFill>
                  <a:srgbClr val="172B4D"/>
                </a:solidFill>
              </a:defRPr>
            </a:lvl5pPr>
            <a:lvl6pPr>
              <a:defRPr sz="3450" b="1">
                <a:solidFill>
                  <a:srgbClr val="172B4D"/>
                </a:solidFill>
              </a:defRPr>
            </a:lvl6pPr>
            <a:lvl7pPr>
              <a:defRPr sz="3450" b="1">
                <a:solidFill>
                  <a:srgbClr val="172B4D"/>
                </a:solidFill>
              </a:defRPr>
            </a:lvl7pPr>
            <a:lvl8pPr>
              <a:defRPr sz="3450" b="1">
                <a:solidFill>
                  <a:srgbClr val="172B4D"/>
                </a:solidFill>
              </a:defRPr>
            </a:lvl8pPr>
            <a:lvl9pPr>
              <a:defRPr sz="34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B4D"/>
                </a:solidFill>
              </a:defRPr>
            </a:pPr>
            <a:r>
              <a:rPr sz="3450" b="1">
                <a:solidFill>
                  <a:srgbClr val="172B4D"/>
                </a:solidFill>
              </a:rPr>
              <a:t>Explainable AI-Based Cloud Performance Analytics for Digital Banking using Graph Neural Networks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FBAA8-CF8D-43B4-9CB4-BA2E7A9F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79AA4-4B94-4524-8D6F-F43636F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E227B-731A-4750-AAD3-BB70A1B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D"/>
                </a:solidFill>
              </a:defRPr>
            </a:defPPr>
            <a:lvl1pPr>
              <a:defRPr sz="2175" b="0">
                <a:solidFill>
                  <a:srgbClr val="172B4D"/>
                </a:solidFill>
              </a:defRPr>
            </a:lvl1pPr>
            <a:lvl2pPr>
              <a:defRPr sz="2175" b="0">
                <a:solidFill>
                  <a:srgbClr val="172B4D"/>
                </a:solidFill>
              </a:defRPr>
            </a:lvl2pPr>
            <a:lvl3pPr>
              <a:defRPr sz="2175" b="0">
                <a:solidFill>
                  <a:srgbClr val="172B4D"/>
                </a:solidFill>
              </a:defRPr>
            </a:lvl3pPr>
            <a:lvl4pPr>
              <a:defRPr sz="2175" b="0">
                <a:solidFill>
                  <a:srgbClr val="172B4D"/>
                </a:solidFill>
              </a:defRPr>
            </a:lvl4pPr>
            <a:lvl5pPr>
              <a:defRPr sz="2175" b="0">
                <a:solidFill>
                  <a:srgbClr val="172B4D"/>
                </a:solidFill>
              </a:defRPr>
            </a:lvl5pPr>
            <a:lvl6pPr>
              <a:defRPr sz="2175" b="0">
                <a:solidFill>
                  <a:srgbClr val="172B4D"/>
                </a:solidFill>
              </a:defRPr>
            </a:lvl6pPr>
            <a:lvl7pPr>
              <a:defRPr sz="2175" b="0">
                <a:solidFill>
                  <a:srgbClr val="172B4D"/>
                </a:solidFill>
              </a:defRPr>
            </a:lvl7pPr>
            <a:lvl8pPr>
              <a:defRPr sz="2175" b="0">
                <a:solidFill>
                  <a:srgbClr val="172B4D"/>
                </a:solidFill>
              </a:defRPr>
            </a:lvl8pPr>
            <a:lvl9pPr>
              <a:defRPr sz="21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D"/>
                </a:solidFill>
              </a:defRPr>
            </a:pPr>
            <a:r>
              <a:rPr sz="2175" b="0">
                <a:solidFill>
                  <a:srgbClr val="172B4D"/>
                </a:solidFill>
              </a:rPr>
              <a:t>Published bank measurements and independent cloud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AC053-B8AA-401B-BA66-5CAA9077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66078"/>
                </a:solidFill>
              </a:defRPr>
            </a:defPPr>
            <a:lvl1pPr>
              <a:defRPr sz="1800" b="0">
                <a:solidFill>
                  <a:srgbClr val="466078"/>
                </a:solidFill>
              </a:defRPr>
            </a:lvl1pPr>
            <a:lvl2pPr>
              <a:defRPr sz="1800" b="0">
                <a:solidFill>
                  <a:srgbClr val="466078"/>
                </a:solidFill>
              </a:defRPr>
            </a:lvl2pPr>
            <a:lvl3pPr>
              <a:defRPr sz="1800" b="0">
                <a:solidFill>
                  <a:srgbClr val="466078"/>
                </a:solidFill>
              </a:defRPr>
            </a:lvl3pPr>
            <a:lvl4pPr>
              <a:defRPr sz="1800" b="0">
                <a:solidFill>
                  <a:srgbClr val="466078"/>
                </a:solidFill>
              </a:defRPr>
            </a:lvl4pPr>
            <a:lvl5pPr>
              <a:defRPr sz="1800" b="0">
                <a:solidFill>
                  <a:srgbClr val="466078"/>
                </a:solidFill>
              </a:defRPr>
            </a:lvl5pPr>
            <a:lvl6pPr>
              <a:defRPr sz="1800" b="0">
                <a:solidFill>
                  <a:srgbClr val="466078"/>
                </a:solidFill>
              </a:defRPr>
            </a:lvl6pPr>
            <a:lvl7pPr>
              <a:defRPr sz="1800" b="0">
                <a:solidFill>
                  <a:srgbClr val="466078"/>
                </a:solidFill>
              </a:defRPr>
            </a:lvl7pPr>
            <a:lvl8pPr>
              <a:defRPr sz="1800" b="0">
                <a:solidFill>
                  <a:srgbClr val="466078"/>
                </a:solidFill>
              </a:defRPr>
            </a:lvl8pPr>
            <a:lvl9pPr>
              <a:defRPr sz="1800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66078"/>
                </a:solidFill>
              </a:defRPr>
            </a:pPr>
            <a:r>
              <a:rPr sz="1800" b="0">
                <a:solidFill>
                  <a:srgbClr val="466078"/>
                </a:solidFill>
              </a:rPr>
              <a:t>Revised implementation and measured results</a:t>
            </a:r>
          </a:p>
        </p:txBody>
      </p:sp>
    </p:spTree>
    <p:extLst>
      <p:ext uri="{BB962C8B-B14F-4D97-AF65-F5344CB8AC3E}">
        <p14:creationId xmlns:p14="http://schemas.microsoft.com/office/powerpoint/2010/main" val="733449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03046-49F4-4BB6-9482-4D5F42EA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Two application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9FA7C-0089-4850-A713-C11F10EF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Public banking observations and independent cloud experiments retain separate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E0FC6-BB37-427D-8D82-55E6308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FBD1E-6AD4-4DB0-9183-2DA0042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FF224-DC01-4404-B3D0-995BD61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756D"/>
                </a:solidFill>
              </a:defRPr>
            </a:defPPr>
            <a:lvl1pPr>
              <a:defRPr sz="2400" b="1">
                <a:solidFill>
                  <a:srgbClr val="16756D"/>
                </a:solidFill>
              </a:defRPr>
            </a:lvl1pPr>
            <a:lvl2pPr>
              <a:defRPr sz="2400" b="1">
                <a:solidFill>
                  <a:srgbClr val="16756D"/>
                </a:solidFill>
              </a:defRPr>
            </a:lvl2pPr>
            <a:lvl3pPr>
              <a:defRPr sz="2400" b="1">
                <a:solidFill>
                  <a:srgbClr val="16756D"/>
                </a:solidFill>
              </a:defRPr>
            </a:lvl3pPr>
            <a:lvl4pPr>
              <a:defRPr sz="2400" b="1">
                <a:solidFill>
                  <a:srgbClr val="16756D"/>
                </a:solidFill>
              </a:defRPr>
            </a:lvl4pPr>
            <a:lvl5pPr>
              <a:defRPr sz="2400" b="1">
                <a:solidFill>
                  <a:srgbClr val="16756D"/>
                </a:solidFill>
              </a:defRPr>
            </a:lvl5pPr>
            <a:lvl6pPr>
              <a:defRPr sz="2400" b="1">
                <a:solidFill>
                  <a:srgbClr val="16756D"/>
                </a:solidFill>
              </a:defRPr>
            </a:lvl6pPr>
            <a:lvl7pPr>
              <a:defRPr sz="2400" b="1">
                <a:solidFill>
                  <a:srgbClr val="16756D"/>
                </a:solidFill>
              </a:defRPr>
            </a:lvl7pPr>
            <a:lvl8pPr>
              <a:defRPr sz="2400" b="1">
                <a:solidFill>
                  <a:srgbClr val="16756D"/>
                </a:solidFill>
              </a:defRPr>
            </a:lvl8pPr>
            <a:lvl9pPr>
              <a:defRPr sz="2400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56D"/>
                </a:solidFill>
              </a:defRPr>
            </a:pPr>
            <a:r>
              <a:rPr sz="2400" b="1">
                <a:solidFill>
                  <a:srgbClr val="16756D"/>
                </a:solidFill>
              </a:rPr>
              <a:t>AWS Banking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CD3D0-9E23-4D8A-BDBD-D1EC5670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defRPr sz="2025" b="0">
                <a:solidFill>
                  <a:srgbClr val="172B4D"/>
                </a:solidFill>
              </a:defRPr>
            </a:lvl1pPr>
            <a:lvl2pPr>
              <a:defRPr sz="2025" b="0">
                <a:solidFill>
                  <a:srgbClr val="172B4D"/>
                </a:solidFill>
              </a:defRPr>
            </a:lvl2pPr>
            <a:lvl3pPr>
              <a:defRPr sz="2025" b="0">
                <a:solidFill>
                  <a:srgbClr val="172B4D"/>
                </a:solidFill>
              </a:defRPr>
            </a:lvl3pPr>
            <a:lvl4pPr>
              <a:defRPr sz="2025" b="0">
                <a:solidFill>
                  <a:srgbClr val="172B4D"/>
                </a:solidFill>
              </a:defRPr>
            </a:lvl4pPr>
            <a:lvl5pPr>
              <a:defRPr sz="2025" b="0">
                <a:solidFill>
                  <a:srgbClr val="172B4D"/>
                </a:solidFill>
              </a:defRPr>
            </a:lvl5pPr>
            <a:lvl6pPr>
              <a:defRPr sz="2025" b="0">
                <a:solidFill>
                  <a:srgbClr val="172B4D"/>
                </a:solidFill>
              </a:defRPr>
            </a:lvl6pPr>
            <a:lvl7pPr>
              <a:defRPr sz="2025" b="0">
                <a:solidFill>
                  <a:srgbClr val="172B4D"/>
                </a:solidFill>
              </a:defRPr>
            </a:lvl7pPr>
            <a:lvl8pPr>
              <a:defRPr sz="2025" b="0">
                <a:solidFill>
                  <a:srgbClr val="172B4D"/>
                </a:solidFill>
              </a:defRPr>
            </a:lvl8pPr>
            <a:lvl9pPr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Monzo and Starling historical API performance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Explicit import and optional AWS storage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Trend analysis with original measurement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AF7BB-38A3-4281-93E3-B5A564D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756D"/>
                </a:solidFill>
              </a:defRPr>
            </a:defPPr>
            <a:lvl1pPr>
              <a:defRPr sz="2400" b="1">
                <a:solidFill>
                  <a:srgbClr val="16756D"/>
                </a:solidFill>
              </a:defRPr>
            </a:lvl1pPr>
            <a:lvl2pPr>
              <a:defRPr sz="2400" b="1">
                <a:solidFill>
                  <a:srgbClr val="16756D"/>
                </a:solidFill>
              </a:defRPr>
            </a:lvl2pPr>
            <a:lvl3pPr>
              <a:defRPr sz="2400" b="1">
                <a:solidFill>
                  <a:srgbClr val="16756D"/>
                </a:solidFill>
              </a:defRPr>
            </a:lvl3pPr>
            <a:lvl4pPr>
              <a:defRPr sz="2400" b="1">
                <a:solidFill>
                  <a:srgbClr val="16756D"/>
                </a:solidFill>
              </a:defRPr>
            </a:lvl4pPr>
            <a:lvl5pPr>
              <a:defRPr sz="2400" b="1">
                <a:solidFill>
                  <a:srgbClr val="16756D"/>
                </a:solidFill>
              </a:defRPr>
            </a:lvl5pPr>
            <a:lvl6pPr>
              <a:defRPr sz="2400" b="1">
                <a:solidFill>
                  <a:srgbClr val="16756D"/>
                </a:solidFill>
              </a:defRPr>
            </a:lvl6pPr>
            <a:lvl7pPr>
              <a:defRPr sz="2400" b="1">
                <a:solidFill>
                  <a:srgbClr val="16756D"/>
                </a:solidFill>
              </a:defRPr>
            </a:lvl7pPr>
            <a:lvl8pPr>
              <a:defRPr sz="2400" b="1">
                <a:solidFill>
                  <a:srgbClr val="16756D"/>
                </a:solidFill>
              </a:defRPr>
            </a:lvl8pPr>
            <a:lvl9pPr>
              <a:defRPr sz="2400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56D"/>
                </a:solidFill>
              </a:defRPr>
            </a:pPr>
            <a:r>
              <a:rPr sz="2400" b="1">
                <a:solidFill>
                  <a:srgbClr val="16756D"/>
                </a:solidFill>
              </a:rPr>
              <a:t>AI Research and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7DDCF-AE52-4C09-95AD-B0D4B999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5286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defRPr sz="2025" b="0">
                <a:solidFill>
                  <a:srgbClr val="172B4D"/>
                </a:solidFill>
              </a:defRPr>
            </a:lvl1pPr>
            <a:lvl2pPr>
              <a:defRPr sz="2025" b="0">
                <a:solidFill>
                  <a:srgbClr val="172B4D"/>
                </a:solidFill>
              </a:defRPr>
            </a:lvl2pPr>
            <a:lvl3pPr>
              <a:defRPr sz="2025" b="0">
                <a:solidFill>
                  <a:srgbClr val="172B4D"/>
                </a:solidFill>
              </a:defRPr>
            </a:lvl3pPr>
            <a:lvl4pPr>
              <a:defRPr sz="2025" b="0">
                <a:solidFill>
                  <a:srgbClr val="172B4D"/>
                </a:solidFill>
              </a:defRPr>
            </a:lvl4pPr>
            <a:lvl5pPr>
              <a:defRPr sz="2025" b="0">
                <a:solidFill>
                  <a:srgbClr val="172B4D"/>
                </a:solidFill>
              </a:defRPr>
            </a:lvl5pPr>
            <a:lvl6pPr>
              <a:defRPr sz="2025" b="0">
                <a:solidFill>
                  <a:srgbClr val="172B4D"/>
                </a:solidFill>
              </a:defRPr>
            </a:lvl6pPr>
            <a:lvl7pPr>
              <a:defRPr sz="2025" b="0">
                <a:solidFill>
                  <a:srgbClr val="172B4D"/>
                </a:solidFill>
              </a:defRPr>
            </a:lvl7pPr>
            <a:lvl8pPr>
              <a:defRPr sz="2025" b="0">
                <a:solidFill>
                  <a:srgbClr val="172B4D"/>
                </a:solidFill>
              </a:defRPr>
            </a:lvl8pPr>
            <a:lvl9pPr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Alibaba GNN reconstruction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RCAEval root-service localization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Microsoft labelled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1441319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41AA6-9303-4C36-BC64-35E77412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Verified banking dataset imports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1330-2275-4C87-9337-A5867D2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53,126 normalized records include explicit missing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8C2B-93D9-4730-BABA-A07DACD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1FDC5-A95B-4C91-B6A7-7DC25ED2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638ED-5472-452E-9326-C1BB624F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756D"/>
                </a:solidFill>
              </a:defRPr>
            </a:defPPr>
            <a:lvl1pPr>
              <a:defRPr sz="2475" b="1">
                <a:solidFill>
                  <a:srgbClr val="16756D"/>
                </a:solidFill>
              </a:defRPr>
            </a:lvl1pPr>
            <a:lvl2pPr>
              <a:defRPr sz="2475" b="1">
                <a:solidFill>
                  <a:srgbClr val="16756D"/>
                </a:solidFill>
              </a:defRPr>
            </a:lvl2pPr>
            <a:lvl3pPr>
              <a:defRPr sz="2475" b="1">
                <a:solidFill>
                  <a:srgbClr val="16756D"/>
                </a:solidFill>
              </a:defRPr>
            </a:lvl3pPr>
            <a:lvl4pPr>
              <a:defRPr sz="2475" b="1">
                <a:solidFill>
                  <a:srgbClr val="16756D"/>
                </a:solidFill>
              </a:defRPr>
            </a:lvl4pPr>
            <a:lvl5pPr>
              <a:defRPr sz="2475" b="1">
                <a:solidFill>
                  <a:srgbClr val="16756D"/>
                </a:solidFill>
              </a:defRPr>
            </a:lvl5pPr>
            <a:lvl6pPr>
              <a:defRPr sz="2475" b="1">
                <a:solidFill>
                  <a:srgbClr val="16756D"/>
                </a:solidFill>
              </a:defRPr>
            </a:lvl6pPr>
            <a:lvl7pPr>
              <a:defRPr sz="2475" b="1">
                <a:solidFill>
                  <a:srgbClr val="16756D"/>
                </a:solidFill>
              </a:defRPr>
            </a:lvl7pPr>
            <a:lvl8pPr>
              <a:defRPr sz="2475" b="1">
                <a:solidFill>
                  <a:srgbClr val="16756D"/>
                </a:solidFill>
              </a:defRPr>
            </a:lvl8pPr>
            <a:lvl9pPr>
              <a:defRPr sz="2475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756D"/>
                </a:solidFill>
              </a:defRPr>
            </a:pPr>
            <a:r>
              <a:rPr sz="2475" b="1">
                <a:solidFill>
                  <a:srgbClr val="16756D"/>
                </a:solidFill>
              </a:rPr>
              <a:t>Monzo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FF161-DECE-4D1C-AF1A-95E8C00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defRPr sz="2025" b="0">
                <a:solidFill>
                  <a:srgbClr val="172B4D"/>
                </a:solidFill>
              </a:defRPr>
            </a:lvl1pPr>
            <a:lvl2pPr>
              <a:defRPr sz="2025" b="0">
                <a:solidFill>
                  <a:srgbClr val="172B4D"/>
                </a:solidFill>
              </a:defRPr>
            </a:lvl2pPr>
            <a:lvl3pPr>
              <a:defRPr sz="2025" b="0">
                <a:solidFill>
                  <a:srgbClr val="172B4D"/>
                </a:solidFill>
              </a:defRPr>
            </a:lvl3pPr>
            <a:lvl4pPr>
              <a:defRPr sz="2025" b="0">
                <a:solidFill>
                  <a:srgbClr val="172B4D"/>
                </a:solidFill>
              </a:defRPr>
            </a:lvl4pPr>
            <a:lvl5pPr>
              <a:defRPr sz="2025" b="0">
                <a:solidFill>
                  <a:srgbClr val="172B4D"/>
                </a:solidFill>
              </a:defRPr>
            </a:lvl5pPr>
            <a:lvl6pPr>
              <a:defRPr sz="2025" b="0">
                <a:solidFill>
                  <a:srgbClr val="172B4D"/>
                </a:solidFill>
              </a:defRPr>
            </a:lvl6pPr>
            <a:lvl7pPr>
              <a:defRPr sz="2025" b="0">
                <a:solidFill>
                  <a:srgbClr val="172B4D"/>
                </a:solidFill>
              </a:defRPr>
            </a:lvl7pPr>
            <a:lvl8pPr>
              <a:defRPr sz="2025" b="0">
                <a:solidFill>
                  <a:srgbClr val="172B4D"/>
                </a:solidFill>
              </a:defRPr>
            </a:lvl8pPr>
            <a:lvl9pPr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24,820 records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14 September 2019 to 30 June 2026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Daily dates from published HTML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AE4C-9483-4C46-B3FC-8D802F8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756D"/>
                </a:solidFill>
              </a:defRPr>
            </a:defPPr>
            <a:lvl1pPr>
              <a:defRPr sz="2475" b="1">
                <a:solidFill>
                  <a:srgbClr val="16756D"/>
                </a:solidFill>
              </a:defRPr>
            </a:lvl1pPr>
            <a:lvl2pPr>
              <a:defRPr sz="2475" b="1">
                <a:solidFill>
                  <a:srgbClr val="16756D"/>
                </a:solidFill>
              </a:defRPr>
            </a:lvl2pPr>
            <a:lvl3pPr>
              <a:defRPr sz="2475" b="1">
                <a:solidFill>
                  <a:srgbClr val="16756D"/>
                </a:solidFill>
              </a:defRPr>
            </a:lvl3pPr>
            <a:lvl4pPr>
              <a:defRPr sz="2475" b="1">
                <a:solidFill>
                  <a:srgbClr val="16756D"/>
                </a:solidFill>
              </a:defRPr>
            </a:lvl4pPr>
            <a:lvl5pPr>
              <a:defRPr sz="2475" b="1">
                <a:solidFill>
                  <a:srgbClr val="16756D"/>
                </a:solidFill>
              </a:defRPr>
            </a:lvl5pPr>
            <a:lvl6pPr>
              <a:defRPr sz="2475" b="1">
                <a:solidFill>
                  <a:srgbClr val="16756D"/>
                </a:solidFill>
              </a:defRPr>
            </a:lvl6pPr>
            <a:lvl7pPr>
              <a:defRPr sz="2475" b="1">
                <a:solidFill>
                  <a:srgbClr val="16756D"/>
                </a:solidFill>
              </a:defRPr>
            </a:lvl7pPr>
            <a:lvl8pPr>
              <a:defRPr sz="2475" b="1">
                <a:solidFill>
                  <a:srgbClr val="16756D"/>
                </a:solidFill>
              </a:defRPr>
            </a:lvl8pPr>
            <a:lvl9pPr>
              <a:defRPr sz="2475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756D"/>
                </a:solidFill>
              </a:defRPr>
            </a:pPr>
            <a:r>
              <a:rPr sz="2475" b="1">
                <a:solidFill>
                  <a:srgbClr val="16756D"/>
                </a:solidFill>
              </a:rPr>
              <a:t>Starling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BD3FF-D29C-4DAF-92D6-8D58C8F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defRPr sz="2025" b="0">
                <a:solidFill>
                  <a:srgbClr val="172B4D"/>
                </a:solidFill>
              </a:defRPr>
            </a:lvl1pPr>
            <a:lvl2pPr>
              <a:defRPr sz="2025" b="0">
                <a:solidFill>
                  <a:srgbClr val="172B4D"/>
                </a:solidFill>
              </a:defRPr>
            </a:lvl2pPr>
            <a:lvl3pPr>
              <a:defRPr sz="2025" b="0">
                <a:solidFill>
                  <a:srgbClr val="172B4D"/>
                </a:solidFill>
              </a:defRPr>
            </a:lvl3pPr>
            <a:lvl4pPr>
              <a:defRPr sz="2025" b="0">
                <a:solidFill>
                  <a:srgbClr val="172B4D"/>
                </a:solidFill>
              </a:defRPr>
            </a:lvl4pPr>
            <a:lvl5pPr>
              <a:defRPr sz="2025" b="0">
                <a:solidFill>
                  <a:srgbClr val="172B4D"/>
                </a:solidFill>
              </a:defRPr>
            </a:lvl5pPr>
            <a:lvl6pPr>
              <a:defRPr sz="2025" b="0">
                <a:solidFill>
                  <a:srgbClr val="172B4D"/>
                </a:solidFill>
              </a:defRPr>
            </a:lvl6pPr>
            <a:lvl7pPr>
              <a:defRPr sz="2025" b="0">
                <a:solidFill>
                  <a:srgbClr val="172B4D"/>
                </a:solidFill>
              </a:defRPr>
            </a:lvl7pPr>
            <a:lvl8pPr>
              <a:defRPr sz="2025" b="0">
                <a:solidFill>
                  <a:srgbClr val="172B4D"/>
                </a:solidFill>
              </a:defRPr>
            </a:lvl8pPr>
            <a:lvl9pPr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28,306 records across 28 quarters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1 July 2019 to 30 June 2026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Validated quarter-selector report identifiers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13682-3A30-4EE8-AF56-3F7EED2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B4D"/>
                </a:solidFill>
              </a:defRPr>
            </a:defPPr>
            <a:lvl1pPr>
              <a:defRPr sz="1800" b="0">
                <a:solidFill>
                  <a:srgbClr val="172B4D"/>
                </a:solidFill>
              </a:defRPr>
            </a:lvl1pPr>
            <a:lvl2pPr>
              <a:defRPr sz="1800" b="0">
                <a:solidFill>
                  <a:srgbClr val="172B4D"/>
                </a:solidFill>
              </a:defRPr>
            </a:lvl2pPr>
            <a:lvl3pPr>
              <a:defRPr sz="1800" b="0">
                <a:solidFill>
                  <a:srgbClr val="172B4D"/>
                </a:solidFill>
              </a:defRPr>
            </a:lvl3pPr>
            <a:lvl4pPr>
              <a:defRPr sz="1800" b="0">
                <a:solidFill>
                  <a:srgbClr val="172B4D"/>
                </a:solidFill>
              </a:defRPr>
            </a:lvl4pPr>
            <a:lvl5pPr>
              <a:defRPr sz="1800" b="0">
                <a:solidFill>
                  <a:srgbClr val="172B4D"/>
                </a:solidFill>
              </a:defRPr>
            </a:lvl5pPr>
            <a:lvl6pPr>
              <a:defRPr sz="1800" b="0">
                <a:solidFill>
                  <a:srgbClr val="172B4D"/>
                </a:solidFill>
              </a:defRPr>
            </a:lvl6pPr>
            <a:lvl7pPr>
              <a:defRPr sz="1800" b="0">
                <a:solidFill>
                  <a:srgbClr val="172B4D"/>
                </a:solidFill>
              </a:defRPr>
            </a:lvl7pPr>
            <a:lvl8pPr>
              <a:defRPr sz="1800" b="0">
                <a:solidFill>
                  <a:srgbClr val="172B4D"/>
                </a:solidFill>
              </a:defRPr>
            </a:lvl8pPr>
            <a:lvl9pPr>
              <a:defRPr sz="180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4D"/>
                </a:solidFill>
              </a:defRPr>
            </a:pPr>
            <a:r>
              <a:rPr sz="1800" b="0">
                <a:solidFill>
                  <a:srgbClr val="172B4D"/>
                </a:solidFill>
              </a:rPr>
              <a:t>Raw snapshots, source values and checksums remain reproducible</a:t>
            </a:r>
          </a:p>
        </p:txBody>
      </p:sp>
    </p:spTree>
    <p:extLst>
      <p:ext uri="{BB962C8B-B14F-4D97-AF65-F5344CB8AC3E}">
        <p14:creationId xmlns:p14="http://schemas.microsoft.com/office/powerpoint/2010/main" val="612060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581D7-5BC8-4B75-9AFF-60736B8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Chronological banking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F5CC7-4491-4685-8684-95D9EBD6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Earlier data establish the reference and calibration before final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C372F-2DC9-4ADD-BB2D-F0C04FA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8281D-325F-4834-8AC3-47A6A3F9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85DB9-69DB-46DC-B065-0DC9C94C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756D"/>
                </a:solidFill>
              </a:defRPr>
            </a:defPPr>
            <a:lvl1pPr>
              <a:defRPr sz="2550" b="1">
                <a:solidFill>
                  <a:srgbClr val="16756D"/>
                </a:solidFill>
              </a:defRPr>
            </a:lvl1pPr>
            <a:lvl2pPr>
              <a:defRPr sz="2550" b="1">
                <a:solidFill>
                  <a:srgbClr val="16756D"/>
                </a:solidFill>
              </a:defRPr>
            </a:lvl2pPr>
            <a:lvl3pPr>
              <a:defRPr sz="2550" b="1">
                <a:solidFill>
                  <a:srgbClr val="16756D"/>
                </a:solidFill>
              </a:defRPr>
            </a:lvl3pPr>
            <a:lvl4pPr>
              <a:defRPr sz="2550" b="1">
                <a:solidFill>
                  <a:srgbClr val="16756D"/>
                </a:solidFill>
              </a:defRPr>
            </a:lvl4pPr>
            <a:lvl5pPr>
              <a:defRPr sz="2550" b="1">
                <a:solidFill>
                  <a:srgbClr val="16756D"/>
                </a:solidFill>
              </a:defRPr>
            </a:lvl5pPr>
            <a:lvl6pPr>
              <a:defRPr sz="2550" b="1">
                <a:solidFill>
                  <a:srgbClr val="16756D"/>
                </a:solidFill>
              </a:defRPr>
            </a:lvl6pPr>
            <a:lvl7pPr>
              <a:defRPr sz="2550" b="1">
                <a:solidFill>
                  <a:srgbClr val="16756D"/>
                </a:solidFill>
              </a:defRPr>
            </a:lvl7pPr>
            <a:lvl8pPr>
              <a:defRPr sz="2550" b="1">
                <a:solidFill>
                  <a:srgbClr val="16756D"/>
                </a:solidFill>
              </a:defRPr>
            </a:lvl8pPr>
            <a:lvl9pPr>
              <a:defRPr sz="2550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756D"/>
                </a:solidFill>
              </a:defRPr>
            </a:pPr>
            <a:r>
              <a:rPr sz="2550" b="1">
                <a:solidFill>
                  <a:srgbClr val="16756D"/>
                </a:solidFill>
              </a:rPr>
              <a:t>60% training     20% calibration     20%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BF80A-E46B-4624-A494-6CC751D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4D"/>
                </a:solidFill>
              </a:defRPr>
            </a:defPPr>
            <a:lvl1pPr>
              <a:defRPr sz="2175" b="0">
                <a:solidFill>
                  <a:srgbClr val="172B4D"/>
                </a:solidFill>
              </a:defRPr>
            </a:lvl1pPr>
            <a:lvl2pPr>
              <a:defRPr sz="2175" b="0">
                <a:solidFill>
                  <a:srgbClr val="172B4D"/>
                </a:solidFill>
              </a:defRPr>
            </a:lvl2pPr>
            <a:lvl3pPr>
              <a:defRPr sz="2175" b="0">
                <a:solidFill>
                  <a:srgbClr val="172B4D"/>
                </a:solidFill>
              </a:defRPr>
            </a:lvl3pPr>
            <a:lvl4pPr>
              <a:defRPr sz="2175" b="0">
                <a:solidFill>
                  <a:srgbClr val="172B4D"/>
                </a:solidFill>
              </a:defRPr>
            </a:lvl4pPr>
            <a:lvl5pPr>
              <a:defRPr sz="2175" b="0">
                <a:solidFill>
                  <a:srgbClr val="172B4D"/>
                </a:solidFill>
              </a:defRPr>
            </a:lvl5pPr>
            <a:lvl6pPr>
              <a:defRPr sz="2175" b="0">
                <a:solidFill>
                  <a:srgbClr val="172B4D"/>
                </a:solidFill>
              </a:defRPr>
            </a:lvl6pPr>
            <a:lvl7pPr>
              <a:defRPr sz="2175" b="0">
                <a:solidFill>
                  <a:srgbClr val="172B4D"/>
                </a:solidFill>
              </a:defRPr>
            </a:lvl7pPr>
            <a:lvl8pPr>
              <a:defRPr sz="2175" b="0">
                <a:solidFill>
                  <a:srgbClr val="172B4D"/>
                </a:solidFill>
              </a:defRPr>
            </a:lvl8pPr>
            <a:lvl9pPr>
              <a:defRPr sz="21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B4D"/>
                </a:solidFill>
              </a:defRPr>
            </a:pPr>
            <a:r>
              <a:rPr sz="2175" b="0">
                <a:solidFill>
                  <a:srgbClr val="172B4D"/>
                </a:solidFill>
              </a:rPr>
              <a:t>Median and MAD establish the historical reference.</a:t>
            </a:r>
          </a:p>
          <a:p xmlns:a="http://schemas.openxmlformats.org/drawingml/2006/main">
            <a:pPr>
              <a:defRPr sz="2175" b="0">
                <a:solidFill>
                  <a:srgbClr val="172B4D"/>
                </a:solidFill>
              </a:defRPr>
            </a:pPr>
            <a:r>
              <a:rPr sz="2175" b="0">
                <a:solidFill>
                  <a:srgbClr val="172B4D"/>
                </a:solidFill>
              </a:rPr>
              <a:t>Calibration fixes the one-sided deviation threshold.</a:t>
            </a:r>
          </a:p>
          <a:p xmlns:a="http://schemas.openxmlformats.org/drawingml/2006/main">
            <a:pPr>
              <a:defRPr sz="2175" b="0">
                <a:solidFill>
                  <a:srgbClr val="172B4D"/>
                </a:solidFill>
              </a:defRPr>
            </a:pPr>
            <a:r>
              <a:rPr sz="2175" b="0">
                <a:solidFill>
                  <a:srgbClr val="172B4D"/>
                </a:solidFill>
              </a:rPr>
              <a:t>Each finding retains its original observed measurement.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8E13E-F263-47EF-927F-3A762062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Public data provides no internal CPU, SQL or bank 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1543003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2DAC-A680-43A2-9A70-5C523BC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Banking findings and forecast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3E644-150A-4F8F-BC3A-85C88F1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Payment Initiation series evaluated independently on their final chronological periods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A59A3-F398-4FA6-8640-AB9F4CAF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C7318-D731-4666-81E9-6154D85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619AE72-E419-401E-8C12-050E07E4C42F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3b38fffb68492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227F1-3D05-46A9-AD28-EE08550D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B4D"/>
                </a:solidFill>
              </a:defRPr>
            </a:defPPr>
            <a:lvl1pPr>
              <a:defRPr sz="1875" b="0">
                <a:solidFill>
                  <a:srgbClr val="172B4D"/>
                </a:solidFill>
              </a:defRPr>
            </a:lvl1pPr>
            <a:lvl2pPr>
              <a:defRPr sz="1875" b="0">
                <a:solidFill>
                  <a:srgbClr val="172B4D"/>
                </a:solidFill>
              </a:defRPr>
            </a:lvl2pPr>
            <a:lvl3pPr>
              <a:defRPr sz="1875" b="0">
                <a:solidFill>
                  <a:srgbClr val="172B4D"/>
                </a:solidFill>
              </a:defRPr>
            </a:lvl3pPr>
            <a:lvl4pPr>
              <a:defRPr sz="1875" b="0">
                <a:solidFill>
                  <a:srgbClr val="172B4D"/>
                </a:solidFill>
              </a:defRPr>
            </a:lvl4pPr>
            <a:lvl5pPr>
              <a:defRPr sz="1875" b="0">
                <a:solidFill>
                  <a:srgbClr val="172B4D"/>
                </a:solidFill>
              </a:defRPr>
            </a:lvl5pPr>
            <a:lvl6pPr>
              <a:defRPr sz="1875" b="0">
                <a:solidFill>
                  <a:srgbClr val="172B4D"/>
                </a:solidFill>
              </a:defRPr>
            </a:lvl6pPr>
            <a:lvl7pPr>
              <a:defRPr sz="1875" b="0">
                <a:solidFill>
                  <a:srgbClr val="172B4D"/>
                </a:solidFill>
              </a:defRPr>
            </a:lvl7pPr>
            <a:lvl8pPr>
              <a:defRPr sz="1875" b="0">
                <a:solidFill>
                  <a:srgbClr val="172B4D"/>
                </a:solidFill>
              </a:defRPr>
            </a:lvl8pPr>
            <a:lvl9pPr>
              <a:defRPr sz="187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Monzo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3 model-flagged deviations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497 evaluation observations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Starling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0 model-flagged deviations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</a:defRPr>
            </a:pPr>
            <a:r>
              <a:rPr sz="1875" b="0">
                <a:solidFill>
                  <a:srgbClr val="172B4D"/>
                </a:solidFill>
              </a:rPr>
              <a:t>92 evaluation observations</a:t>
            </a:r>
          </a:p>
        </p:txBody>
      </p:sp>
    </p:spTree>
    <p:extLst>
      <p:ext uri="{BB962C8B-B14F-4D97-AF65-F5344CB8AC3E}">
        <p14:creationId xmlns:p14="http://schemas.microsoft.com/office/powerpoint/2010/main" val="255244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45654-758A-4E75-AD78-2132809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Alibaba graph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C085D-12BE-4159-BD7F-9BDB6541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Identical architecture and measured holdout with recorded topology or identity adjacency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4C52B-A0F4-4056-91DA-C9EB608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E91A2-81B0-4F4E-BE10-14CC1D4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4E3FE05-7991-432B-8F1D-37B1A63525E6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239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206a9d07f14fd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D1E5-A989-45C7-9420-DFB18AB8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3286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B4D"/>
                </a:solidFill>
              </a:defRPr>
            </a:defPPr>
            <a:lvl1pPr>
              <a:defRPr sz="1950" b="0">
                <a:solidFill>
                  <a:srgbClr val="172B4D"/>
                </a:solidFill>
              </a:defRPr>
            </a:lvl1pPr>
            <a:lvl2pPr>
              <a:defRPr sz="1950" b="0">
                <a:solidFill>
                  <a:srgbClr val="172B4D"/>
                </a:solidFill>
              </a:defRPr>
            </a:lvl2pPr>
            <a:lvl3pPr>
              <a:defRPr sz="1950" b="0">
                <a:solidFill>
                  <a:srgbClr val="172B4D"/>
                </a:solidFill>
              </a:defRPr>
            </a:lvl3pPr>
            <a:lvl4pPr>
              <a:defRPr sz="1950" b="0">
                <a:solidFill>
                  <a:srgbClr val="172B4D"/>
                </a:solidFill>
              </a:defRPr>
            </a:lvl4pPr>
            <a:lvl5pPr>
              <a:defRPr sz="1950" b="0">
                <a:solidFill>
                  <a:srgbClr val="172B4D"/>
                </a:solidFill>
              </a:defRPr>
            </a:lvl5pPr>
            <a:lvl6pPr>
              <a:defRPr sz="1950" b="0">
                <a:solidFill>
                  <a:srgbClr val="172B4D"/>
                </a:solidFill>
              </a:defRPr>
            </a:lvl6pPr>
            <a:lvl7pPr>
              <a:defRPr sz="1950" b="0">
                <a:solidFill>
                  <a:srgbClr val="172B4D"/>
                </a:solidFill>
              </a:defRPr>
            </a:lvl7pPr>
            <a:lvl8pPr>
              <a:defRPr sz="1950" b="0">
                <a:solidFill>
                  <a:srgbClr val="172B4D"/>
                </a:solidFill>
              </a:defRPr>
            </a:lvl8pPr>
            <a:lvl9pPr>
              <a:defRPr sz="195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B4D"/>
                </a:solidFill>
              </a:defRPr>
            </a:pPr>
            <a:r>
              <a:rPr sz="1950" b="0">
                <a:solidFill>
                  <a:srgbClr val="172B4D"/>
                </a:solidFill>
              </a:rPr>
              <a:t>Lower is better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B4D"/>
                </a:solidFill>
              </a:defRPr>
            </a:pPr>
            <a:r>
              <a:rPr sz="1950" b="0">
                <a:solidFill>
                  <a:srgbClr val="172B4D"/>
                </a:solidFill>
              </a:rPr>
              <a:t>The identity variant reconstructs this bounded slice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B4D"/>
                </a:solidFill>
              </a:defRPr>
            </a:pPr>
            <a:r>
              <a:rPr sz="1950" b="0">
                <a:solidFill>
                  <a:srgbClr val="172B4D"/>
                </a:solidFill>
              </a:rPr>
              <a:t>No GNN advantage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39915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13E8D-6FE2-40C2-ACB0-98C077E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Independent fault and anomaly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3D4A1-EC8D-4B02-BD95-FC07811E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Preserved benchmark results apply only to their recorded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8698-186A-4B81-BE01-2B35514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CB57B-325E-4A99-B51B-3117429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D9B86-51B0-44A6-844F-249D8EA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756D"/>
                </a:solidFill>
              </a:defRPr>
            </a:defPPr>
            <a:lvl1pPr>
              <a:defRPr sz="2400" b="1">
                <a:solidFill>
                  <a:srgbClr val="16756D"/>
                </a:solidFill>
              </a:defRPr>
            </a:lvl1pPr>
            <a:lvl2pPr>
              <a:defRPr sz="2400" b="1">
                <a:solidFill>
                  <a:srgbClr val="16756D"/>
                </a:solidFill>
              </a:defRPr>
            </a:lvl2pPr>
            <a:lvl3pPr>
              <a:defRPr sz="2400" b="1">
                <a:solidFill>
                  <a:srgbClr val="16756D"/>
                </a:solidFill>
              </a:defRPr>
            </a:lvl3pPr>
            <a:lvl4pPr>
              <a:defRPr sz="2400" b="1">
                <a:solidFill>
                  <a:srgbClr val="16756D"/>
                </a:solidFill>
              </a:defRPr>
            </a:lvl4pPr>
            <a:lvl5pPr>
              <a:defRPr sz="2400" b="1">
                <a:solidFill>
                  <a:srgbClr val="16756D"/>
                </a:solidFill>
              </a:defRPr>
            </a:lvl5pPr>
            <a:lvl6pPr>
              <a:defRPr sz="2400" b="1">
                <a:solidFill>
                  <a:srgbClr val="16756D"/>
                </a:solidFill>
              </a:defRPr>
            </a:lvl6pPr>
            <a:lvl7pPr>
              <a:defRPr sz="2400" b="1">
                <a:solidFill>
                  <a:srgbClr val="16756D"/>
                </a:solidFill>
              </a:defRPr>
            </a:lvl7pPr>
            <a:lvl8pPr>
              <a:defRPr sz="2400" b="1">
                <a:solidFill>
                  <a:srgbClr val="16756D"/>
                </a:solidFill>
              </a:defRPr>
            </a:lvl8pPr>
            <a:lvl9pPr>
              <a:defRPr sz="2400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56D"/>
                </a:solidFill>
              </a:defRPr>
            </a:pPr>
            <a:r>
              <a:rPr sz="2400" b="1">
                <a:solidFill>
                  <a:srgbClr val="16756D"/>
                </a:solidFill>
              </a:rPr>
              <a:t>Microsoft labelled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0288A-A4C1-43D3-AD69-D3E6F243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B4D"/>
                </a:solidFill>
              </a:defRPr>
            </a:defPPr>
            <a:lvl1pPr>
              <a:defRPr sz="2100" b="0">
                <a:solidFill>
                  <a:srgbClr val="172B4D"/>
                </a:solidFill>
              </a:defRPr>
            </a:lvl1pPr>
            <a:lvl2pPr>
              <a:defRPr sz="2100" b="0">
                <a:solidFill>
                  <a:srgbClr val="172B4D"/>
                </a:solidFill>
              </a:defRPr>
            </a:lvl2pPr>
            <a:lvl3pPr>
              <a:defRPr sz="2100" b="0">
                <a:solidFill>
                  <a:srgbClr val="172B4D"/>
                </a:solidFill>
              </a:defRPr>
            </a:lvl3pPr>
            <a:lvl4pPr>
              <a:defRPr sz="2100" b="0">
                <a:solidFill>
                  <a:srgbClr val="172B4D"/>
                </a:solidFill>
              </a:defRPr>
            </a:lvl4pPr>
            <a:lvl5pPr>
              <a:defRPr sz="2100" b="0">
                <a:solidFill>
                  <a:srgbClr val="172B4D"/>
                </a:solidFill>
              </a:defRPr>
            </a:lvl5pPr>
            <a:lvl6pPr>
              <a:defRPr sz="2100" b="0">
                <a:solidFill>
                  <a:srgbClr val="172B4D"/>
                </a:solidFill>
              </a:defRPr>
            </a:lvl6pPr>
            <a:lvl7pPr>
              <a:defRPr sz="2100" b="0">
                <a:solidFill>
                  <a:srgbClr val="172B4D"/>
                </a:solidFill>
              </a:defRPr>
            </a:lvl7pPr>
            <a:lvl8pPr>
              <a:defRPr sz="2100" b="0">
                <a:solidFill>
                  <a:srgbClr val="172B4D"/>
                </a:solidFill>
              </a:defRPr>
            </a:lvl8pPr>
            <a:lvl9pPr>
              <a:defRPr sz="210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4D"/>
                </a:solidFill>
              </a:defRPr>
            </a:pPr>
            <a:r>
              <a:rPr sz="2100" b="0">
                <a:solidFill>
                  <a:srgbClr val="172B4D"/>
                </a:solidFill>
              </a:rPr>
              <a:t>Median/MAD F1 0.327     Precision 0.259     Recall 0.444</a:t>
            </a:r>
          </a:p>
          <a:p xmlns:a="http://schemas.openxmlformats.org/drawingml/2006/main">
            <a:pPr>
              <a:defRPr sz="2100" b="0">
                <a:solidFill>
                  <a:srgbClr val="172B4D"/>
                </a:solidFill>
              </a:defRPr>
            </a:pPr>
            <a:r>
              <a:rPr sz="2100" b="0">
                <a:solidFill>
                  <a:srgbClr val="172B4D"/>
                </a:solidFill>
              </a:rPr>
              <a:t>728 false positives and 318 false negatives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77B1D-57CD-4809-A492-01EEE1E7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756D"/>
                </a:solidFill>
              </a:defRPr>
            </a:defPPr>
            <a:lvl1pPr>
              <a:defRPr sz="2400" b="1">
                <a:solidFill>
                  <a:srgbClr val="16756D"/>
                </a:solidFill>
              </a:defRPr>
            </a:lvl1pPr>
            <a:lvl2pPr>
              <a:defRPr sz="2400" b="1">
                <a:solidFill>
                  <a:srgbClr val="16756D"/>
                </a:solidFill>
              </a:defRPr>
            </a:lvl2pPr>
            <a:lvl3pPr>
              <a:defRPr sz="2400" b="1">
                <a:solidFill>
                  <a:srgbClr val="16756D"/>
                </a:solidFill>
              </a:defRPr>
            </a:lvl3pPr>
            <a:lvl4pPr>
              <a:defRPr sz="2400" b="1">
                <a:solidFill>
                  <a:srgbClr val="16756D"/>
                </a:solidFill>
              </a:defRPr>
            </a:lvl4pPr>
            <a:lvl5pPr>
              <a:defRPr sz="2400" b="1">
                <a:solidFill>
                  <a:srgbClr val="16756D"/>
                </a:solidFill>
              </a:defRPr>
            </a:lvl5pPr>
            <a:lvl6pPr>
              <a:defRPr sz="2400" b="1">
                <a:solidFill>
                  <a:srgbClr val="16756D"/>
                </a:solidFill>
              </a:defRPr>
            </a:lvl6pPr>
            <a:lvl7pPr>
              <a:defRPr sz="2400" b="1">
                <a:solidFill>
                  <a:srgbClr val="16756D"/>
                </a:solidFill>
              </a:defRPr>
            </a:lvl7pPr>
            <a:lvl8pPr>
              <a:defRPr sz="2400" b="1">
                <a:solidFill>
                  <a:srgbClr val="16756D"/>
                </a:solidFill>
              </a:defRPr>
            </a:lvl8pPr>
            <a:lvl9pPr>
              <a:defRPr sz="2400" b="1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56D"/>
                </a:solidFill>
              </a:defRPr>
            </a:pPr>
            <a:r>
              <a:rPr sz="2400" b="1">
                <a:solidFill>
                  <a:srgbClr val="16756D"/>
                </a:solidFill>
              </a:rPr>
              <a:t>RCAEval root-service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99A99-11A4-4E96-9E40-053BDBCA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</a:defRPr>
            </a:defPPr>
            <a:lvl1pPr>
              <a:defRPr sz="2025" b="0">
                <a:solidFill>
                  <a:srgbClr val="172B4D"/>
                </a:solidFill>
              </a:defRPr>
            </a:lvl1pPr>
            <a:lvl2pPr>
              <a:defRPr sz="2025" b="0">
                <a:solidFill>
                  <a:srgbClr val="172B4D"/>
                </a:solidFill>
              </a:defRPr>
            </a:lvl2pPr>
            <a:lvl3pPr>
              <a:defRPr sz="2025" b="0">
                <a:solidFill>
                  <a:srgbClr val="172B4D"/>
                </a:solidFill>
              </a:defRPr>
            </a:lvl3pPr>
            <a:lvl4pPr>
              <a:defRPr sz="2025" b="0">
                <a:solidFill>
                  <a:srgbClr val="172B4D"/>
                </a:solidFill>
              </a:defRPr>
            </a:lvl4pPr>
            <a:lvl5pPr>
              <a:defRPr sz="2025" b="0">
                <a:solidFill>
                  <a:srgbClr val="172B4D"/>
                </a:solidFill>
              </a:defRPr>
            </a:lvl5pPr>
            <a:lvl6pPr>
              <a:defRPr sz="2025" b="0">
                <a:solidFill>
                  <a:srgbClr val="172B4D"/>
                </a:solidFill>
              </a:defRPr>
            </a:lvl6pPr>
            <a:lvl7pPr>
              <a:defRPr sz="2025" b="0">
                <a:solidFill>
                  <a:srgbClr val="172B4D"/>
                </a:solidFill>
              </a:defRPr>
            </a:lvl7pPr>
            <a:lvl8pPr>
              <a:defRPr sz="2025" b="0">
                <a:solidFill>
                  <a:srgbClr val="172B4D"/>
                </a:solidFill>
              </a:defRPr>
            </a:lvl8pPr>
            <a:lvl9pPr>
              <a:defRPr sz="2025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RE1 reports ranking, mechanism agreement and abstention separately.</a:t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</a:defRPr>
            </a:pPr>
            <a:r>
              <a:rPr sz="2025" b="0">
                <a:solidFill>
                  <a:srgbClr val="172B4D"/>
                </a:solidFill>
              </a:rPr>
              <a:t>Five RE2 cases tie at Top-1 0.60 and Top-3 0.80.</a:t>
            </a:r>
          </a:p>
        </p:txBody>
      </p:sp>
    </p:spTree>
    <p:extLst>
      <p:ext uri="{BB962C8B-B14F-4D97-AF65-F5344CB8AC3E}">
        <p14:creationId xmlns:p14="http://schemas.microsoft.com/office/powerpoint/2010/main" val="1324064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680A6-319F-4D62-970B-2E7AEEB2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B4D"/>
                </a:solidFill>
              </a:defRPr>
            </a:defPPr>
            <a:lvl1pPr>
              <a:defRPr sz="3150" b="1">
                <a:solidFill>
                  <a:srgbClr val="172B4D"/>
                </a:solidFill>
              </a:defRPr>
            </a:lvl1pPr>
            <a:lvl2pPr>
              <a:defRPr sz="3150" b="1">
                <a:solidFill>
                  <a:srgbClr val="172B4D"/>
                </a:solidFill>
              </a:defRPr>
            </a:lvl2pPr>
            <a:lvl3pPr>
              <a:defRPr sz="3150" b="1">
                <a:solidFill>
                  <a:srgbClr val="172B4D"/>
                </a:solidFill>
              </a:defRPr>
            </a:lvl3pPr>
            <a:lvl4pPr>
              <a:defRPr sz="3150" b="1">
                <a:solidFill>
                  <a:srgbClr val="172B4D"/>
                </a:solidFill>
              </a:defRPr>
            </a:lvl4pPr>
            <a:lvl5pPr>
              <a:defRPr sz="3150" b="1">
                <a:solidFill>
                  <a:srgbClr val="172B4D"/>
                </a:solidFill>
              </a:defRPr>
            </a:lvl5pPr>
            <a:lvl6pPr>
              <a:defRPr sz="3150" b="1">
                <a:solidFill>
                  <a:srgbClr val="172B4D"/>
                </a:solidFill>
              </a:defRPr>
            </a:lvl6pPr>
            <a:lvl7pPr>
              <a:defRPr sz="3150" b="1">
                <a:solidFill>
                  <a:srgbClr val="172B4D"/>
                </a:solidFill>
              </a:defRPr>
            </a:lvl7pPr>
            <a:lvl8pPr>
              <a:defRPr sz="3150" b="1">
                <a:solidFill>
                  <a:srgbClr val="172B4D"/>
                </a:solidFill>
              </a:defRPr>
            </a:lvl8pPr>
            <a:lvl9pPr>
              <a:defRPr sz="3150" b="1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B4D"/>
                </a:solidFill>
              </a:defRPr>
            </a:pPr>
            <a:r>
              <a:rPr sz="3150" b="1">
                <a:solidFill>
                  <a:srgbClr val="172B4D"/>
                </a:solidFill>
              </a:rPr>
              <a:t>Verified implementation and remaining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6C334-8B46-4F42-BDEC-D8C48E6C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078"/>
                </a:solidFill>
              </a:defRPr>
            </a:defPPr>
            <a:lvl1pPr>
              <a:defRPr sz="1875" b="0">
                <a:solidFill>
                  <a:srgbClr val="466078"/>
                </a:solidFill>
              </a:defRPr>
            </a:lvl1pPr>
            <a:lvl2pPr>
              <a:defRPr sz="1875" b="0">
                <a:solidFill>
                  <a:srgbClr val="466078"/>
                </a:solidFill>
              </a:defRPr>
            </a:lvl2pPr>
            <a:lvl3pPr>
              <a:defRPr sz="1875" b="0">
                <a:solidFill>
                  <a:srgbClr val="466078"/>
                </a:solidFill>
              </a:defRPr>
            </a:lvl3pPr>
            <a:lvl4pPr>
              <a:defRPr sz="1875" b="0">
                <a:solidFill>
                  <a:srgbClr val="466078"/>
                </a:solidFill>
              </a:defRPr>
            </a:lvl4pPr>
            <a:lvl5pPr>
              <a:defRPr sz="1875" b="0">
                <a:solidFill>
                  <a:srgbClr val="466078"/>
                </a:solidFill>
              </a:defRPr>
            </a:lvl5pPr>
            <a:lvl6pPr>
              <a:defRPr sz="1875" b="0">
                <a:solidFill>
                  <a:srgbClr val="466078"/>
                </a:solidFill>
              </a:defRPr>
            </a:lvl6pPr>
            <a:lvl7pPr>
              <a:defRPr sz="1875" b="0">
                <a:solidFill>
                  <a:srgbClr val="466078"/>
                </a:solidFill>
              </a:defRPr>
            </a:lvl7pPr>
            <a:lvl8pPr>
              <a:defRPr sz="1875" b="0">
                <a:solidFill>
                  <a:srgbClr val="466078"/>
                </a:solidFill>
              </a:defRPr>
            </a:lvl8pPr>
            <a:lvl9pPr>
              <a:defRPr sz="1875" b="0">
                <a:solidFill>
                  <a:srgbClr val="46607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66078"/>
                </a:solidFill>
              </a:defRPr>
            </a:pPr>
            <a:r>
              <a:rPr sz="1875" b="0">
                <a:solidFill>
                  <a:srgbClr val="466078"/>
                </a:solidFill>
              </a:rPr>
              <a:t>The application runs locally while cloud execution remains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6066C-4427-483F-A1CF-F2D9701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Digital banking performance research     22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6CCF-0066-4C77-A661-4A81BE07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58A"/>
                </a:solidFill>
              </a:defRPr>
            </a:defPPr>
            <a:lvl1pPr>
              <a:defRPr sz="1275" b="0">
                <a:solidFill>
                  <a:srgbClr val="60758A"/>
                </a:solidFill>
              </a:defRPr>
            </a:lvl1pPr>
            <a:lvl2pPr>
              <a:defRPr sz="1275" b="0">
                <a:solidFill>
                  <a:srgbClr val="60758A"/>
                </a:solidFill>
              </a:defRPr>
            </a:lvl2pPr>
            <a:lvl3pPr>
              <a:defRPr sz="1275" b="0">
                <a:solidFill>
                  <a:srgbClr val="60758A"/>
                </a:solidFill>
              </a:defRPr>
            </a:lvl3pPr>
            <a:lvl4pPr>
              <a:defRPr sz="1275" b="0">
                <a:solidFill>
                  <a:srgbClr val="60758A"/>
                </a:solidFill>
              </a:defRPr>
            </a:lvl4pPr>
            <a:lvl5pPr>
              <a:defRPr sz="1275" b="0">
                <a:solidFill>
                  <a:srgbClr val="60758A"/>
                </a:solidFill>
              </a:defRPr>
            </a:lvl5pPr>
            <a:lvl6pPr>
              <a:defRPr sz="1275" b="0">
                <a:solidFill>
                  <a:srgbClr val="60758A"/>
                </a:solidFill>
              </a:defRPr>
            </a:lvl6pPr>
            <a:lvl7pPr>
              <a:defRPr sz="1275" b="0">
                <a:solidFill>
                  <a:srgbClr val="60758A"/>
                </a:solidFill>
              </a:defRPr>
            </a:lvl7pPr>
            <a:lvl8pPr>
              <a:defRPr sz="1275" b="0">
                <a:solidFill>
                  <a:srgbClr val="60758A"/>
                </a:solidFill>
              </a:defRPr>
            </a:lvl8pPr>
            <a:lvl9pPr>
              <a:defRPr sz="1275" b="0">
                <a:solidFill>
                  <a:srgbClr val="6075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58A"/>
                </a:solidFill>
              </a:defRPr>
            </a:pPr>
            <a:r>
              <a:rPr sz="1275" b="0">
                <a:solidFill>
                  <a:srgbClr val="60758A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3CDA9-E9CC-40DF-8F4B-61F99E3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756D"/>
                </a:solidFill>
              </a:defRPr>
            </a:defPPr>
            <a:lvl1pPr>
              <a:defRPr sz="2325" b="0">
                <a:solidFill>
                  <a:srgbClr val="16756D"/>
                </a:solidFill>
              </a:defRPr>
            </a:lvl1pPr>
            <a:lvl2pPr>
              <a:defRPr sz="2325" b="0">
                <a:solidFill>
                  <a:srgbClr val="16756D"/>
                </a:solidFill>
              </a:defRPr>
            </a:lvl2pPr>
            <a:lvl3pPr>
              <a:defRPr sz="2325" b="0">
                <a:solidFill>
                  <a:srgbClr val="16756D"/>
                </a:solidFill>
              </a:defRPr>
            </a:lvl3pPr>
            <a:lvl4pPr>
              <a:defRPr sz="2325" b="0">
                <a:solidFill>
                  <a:srgbClr val="16756D"/>
                </a:solidFill>
              </a:defRPr>
            </a:lvl4pPr>
            <a:lvl5pPr>
              <a:defRPr sz="2325" b="0">
                <a:solidFill>
                  <a:srgbClr val="16756D"/>
                </a:solidFill>
              </a:defRPr>
            </a:lvl5pPr>
            <a:lvl6pPr>
              <a:defRPr sz="2325" b="0">
                <a:solidFill>
                  <a:srgbClr val="16756D"/>
                </a:solidFill>
              </a:defRPr>
            </a:lvl6pPr>
            <a:lvl7pPr>
              <a:defRPr sz="2325" b="0">
                <a:solidFill>
                  <a:srgbClr val="16756D"/>
                </a:solidFill>
              </a:defRPr>
            </a:lvl7pPr>
            <a:lvl8pPr>
              <a:defRPr sz="2325" b="0">
                <a:solidFill>
                  <a:srgbClr val="16756D"/>
                </a:solidFill>
              </a:defRPr>
            </a:lvl8pPr>
            <a:lvl9pPr>
              <a:defRPr sz="2325" b="0">
                <a:solidFill>
                  <a:srgbClr val="16756D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756D"/>
                </a:solidFill>
              </a:defRPr>
            </a:pPr>
            <a:r>
              <a:rPr sz="2325" b="0">
                <a:solidFill>
                  <a:srgbClr val="16756D"/>
                </a:solidFill>
              </a:rPr>
              <a:t>157 regression tests passed</a:t>
            </a:r>
          </a:p>
          <a:p xmlns:a="http://schemas.openxmlformats.org/drawingml/2006/main">
            <a:pPr>
              <a:defRPr sz="2325" b="0">
                <a:solidFill>
                  <a:srgbClr val="16756D"/>
                </a:solidFill>
              </a:defRPr>
            </a:pPr>
            <a:r>
              <a:rPr sz="2325" b="0">
                <a:solidFill>
                  <a:srgbClr val="16756D"/>
                </a:solidFill>
              </a:rPr>
              <a:t>Production frontend build passed</a:t>
            </a:r>
          </a:p>
          <a:p xmlns:a="http://schemas.openxmlformats.org/drawingml/2006/main">
            <a:pPr>
              <a:defRPr sz="2325" b="0">
                <a:solidFill>
                  <a:srgbClr val="16756D"/>
                </a:solidFill>
              </a:defRPr>
            </a:pPr>
            <a:r>
              <a:rPr sz="2325" b="0">
                <a:solidFill>
                  <a:srgbClr val="16756D"/>
                </a:solidFill>
              </a:rPr>
              <a:t>Official banking snapshots and chronological evaluations saved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E3667-D2EA-4703-9DB6-E1823B0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B4D"/>
                </a:solidFill>
              </a:defRPr>
            </a:defPPr>
            <a:lvl1pPr>
              <a:defRPr sz="2100" b="0">
                <a:solidFill>
                  <a:srgbClr val="172B4D"/>
                </a:solidFill>
              </a:defRPr>
            </a:lvl1pPr>
            <a:lvl2pPr>
              <a:defRPr sz="2100" b="0">
                <a:solidFill>
                  <a:srgbClr val="172B4D"/>
                </a:solidFill>
              </a:defRPr>
            </a:lvl2pPr>
            <a:lvl3pPr>
              <a:defRPr sz="2100" b="0">
                <a:solidFill>
                  <a:srgbClr val="172B4D"/>
                </a:solidFill>
              </a:defRPr>
            </a:lvl3pPr>
            <a:lvl4pPr>
              <a:defRPr sz="2100" b="0">
                <a:solidFill>
                  <a:srgbClr val="172B4D"/>
                </a:solidFill>
              </a:defRPr>
            </a:lvl4pPr>
            <a:lvl5pPr>
              <a:defRPr sz="2100" b="0">
                <a:solidFill>
                  <a:srgbClr val="172B4D"/>
                </a:solidFill>
              </a:defRPr>
            </a:lvl5pPr>
            <a:lvl6pPr>
              <a:defRPr sz="2100" b="0">
                <a:solidFill>
                  <a:srgbClr val="172B4D"/>
                </a:solidFill>
              </a:defRPr>
            </a:lvl6pPr>
            <a:lvl7pPr>
              <a:defRPr sz="2100" b="0">
                <a:solidFill>
                  <a:srgbClr val="172B4D"/>
                </a:solidFill>
              </a:defRPr>
            </a:lvl7pPr>
            <a:lvl8pPr>
              <a:defRPr sz="2100" b="0">
                <a:solidFill>
                  <a:srgbClr val="172B4D"/>
                </a:solidFill>
              </a:defRPr>
            </a:lvl8pPr>
            <a:lvl9pPr>
              <a:defRPr sz="2100" b="0">
                <a:solidFill>
                  <a:srgbClr val="172B4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B4D"/>
                </a:solidFill>
              </a:defRPr>
            </a:pPr>
            <a:r>
              <a:rPr sz="2100" b="0">
                <a:solidFill>
                  <a:srgbClr val="172B4D"/>
                </a:solidFill>
              </a:rPr>
              <a:t>S3 upload and content checksums verified</a:t>
            </a:r>
          </a:p>
          <a:p xmlns:a="http://schemas.openxmlformats.org/drawingml/2006/main">
            <a:pPr>
              <a:defRPr sz="2100" b="0">
                <a:solidFill>
                  <a:srgbClr val="172B4D"/>
                </a:solidFill>
              </a:defRPr>
            </a:pPr>
            <a:r>
              <a:rPr sz="2100" b="0">
                <a:solidFill>
                  <a:srgbClr val="172B4D"/>
                </a:solidFill>
              </a:rPr>
              <a:t>CloudWatch importer health published and read back</a:t>
            </a:r>
          </a:p>
          <a:p xmlns:a="http://schemas.openxmlformats.org/drawingml/2006/main">
            <a:pPr>
              <a:defRPr sz="2100" b="0">
                <a:solidFill>
                  <a:srgbClr val="172B4D"/>
                </a:solidFill>
              </a:defRPr>
            </a:pPr>
            <a:r>
              <a:rPr sz="2100" b="0">
                <a:solidFill>
                  <a:srgbClr val="172B4D"/>
                </a:solidFill>
              </a:rPr>
              <a:t>Private encrypted bucket configured in us-east-1</a:t>
            </a:r>
          </a:p>
        </p:txBody>
      </p:sp>
    </p:spTree>
    <p:extLst>
      <p:ext uri="{BB962C8B-B14F-4D97-AF65-F5344CB8AC3E}">
        <p14:creationId xmlns:p14="http://schemas.microsoft.com/office/powerpoint/2010/main" val="631493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2026-10-22T12:00:05.1240000Z</dcterms:created>
  <dcterms:modified xsi:type="dcterms:W3CDTF">2026-10-22T12:00:05.1240000Z</dcterms:modified>
</coreProperties>
</file>